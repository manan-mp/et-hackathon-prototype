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6224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6224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FRAUD SHIELD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detection for digital arrest scams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risk verdicts, plain-language guidance, and real-time protection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citizens targeted by fake CBI, ED, and Customs “arrest” calls.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5760720"/>
            <a:ext cx="274320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897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6199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6 — AI for Digital Public Safety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5897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Task Force 141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6199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Manan Pareek  ·  Raghav Khurana  ·  Harshit Arora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silent epidemic, hiding in plain sight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Fraudsters impersonate CBI, ED, Customs, or police officers on video calls, trap victims in hours-long psychological isolation, and extort money under threat of a fabricated “digital arrest.”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1.14M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Cybercrime complaints filed in India in 2023 — up 60% year on year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2468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₹1,776 Cr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206240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digital arrest scams in just the first 9 months of 2024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0" y="24688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863840" y="3246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 tools available at the point of contact, before money moves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1622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617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that repeats: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9834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official identity  →  Urgency + threat of arrest  →  Forced isolation on video  →  Demand for money transfer or OTP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MHA / CERT-In cybercrime reporting, 2023–2024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Fraud Shield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happens after the money is gone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victims only get help once they already reported a loss. There is no tool that intervenes during the call itself.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16224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502920" cy="502920"/>
          </a:xfrm>
          <a:prstGeom prst="ellipse">
            <a:avLst/>
          </a:prstGeom>
          <a:solidFill>
            <a:srgbClr val="8F2E2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331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— reactive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reports the scam only after losing money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signal of an active scam call in progress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awareness campaigns, not point-of-contact tools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begins weeks after the harm is done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196596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027368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2860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2331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needed — proactive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297180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risk verdict while the call or message is still fresh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red flags, explained in plain language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Immediate, correct next steps — not just a warning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that strengthens the wider intelligence picture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data and action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Fraud Shield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Citizen Fraud Shield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 a call transcript or suspicious message. Get an instant, explainable verdict — in seconds, not after a complaint is filed.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6224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60604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88620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the transcript against known digital-arrest scam patterns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22860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6224A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606040"/>
            <a:ext cx="640080" cy="64008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3383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388620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specific red flags with evidence, not a black-box score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6224A"/>
          </a:solidFill>
          <a:ln/>
        </p:spPr>
      </p:sp>
      <p:sp>
        <p:nvSpPr>
          <p:cNvPr id="15" name="Shape 13"/>
          <p:cNvSpPr/>
          <p:nvPr/>
        </p:nvSpPr>
        <p:spPr>
          <a:xfrm>
            <a:off x="8458200" y="260604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58200" y="3383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58200" y="388620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 clear verdict and correct next action, in the citizen's language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transcript to actionable protection in one step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Fraud Shield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lean pipeline built for speed: no unnecessary hops between the citizen and an answer.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16224A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999232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3401568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Pastes call / message transcript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80360" y="283464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027368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90088" y="2999232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90088" y="3401568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UI, sample scenarios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12080" y="283464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027368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21808" y="2999232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backend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21808" y="3401568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/api/analyze, /api/sessions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543800" y="283464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8F2E2E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53528" y="2999232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2.5 Flash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53528" y="3401568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scam classifier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875520" y="283464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16224A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85248" y="2999232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log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85248" y="3401568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+ timestamp history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14600" y="3429000"/>
            <a:ext cx="36576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846320" y="3429000"/>
            <a:ext cx="36576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178040" y="3429000"/>
            <a:ext cx="36576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509760" y="3429000"/>
            <a:ext cx="36576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8640" y="4434840"/>
            <a:ext cx="11338560" cy="1463040"/>
          </a:xfrm>
          <a:prstGeom prst="roundRect">
            <a:avLst>
              <a:gd name="adj" fmla="val 7500"/>
            </a:avLst>
          </a:prstGeom>
          <a:solidFill>
            <a:srgbClr val="16224A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loop: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49377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returns a strict-JSON verdict with confidence and red flags → backend logs the session to SQLite → result renders as a color-coded card on the frontend → recent sessions populate the live detections dashboard.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Fraud Shield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built and working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6224A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" y="162763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" y="224028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Scam risk analyzer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651760"/>
            <a:ext cx="3099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verdict, confidence score, evidence-backed red flags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6224A"/>
          </a:solidFill>
          <a:ln/>
        </p:spPr>
      </p:sp>
      <p:sp>
        <p:nvSpPr>
          <p:cNvPr id="9" name="Shape 7"/>
          <p:cNvSpPr/>
          <p:nvPr/>
        </p:nvSpPr>
        <p:spPr>
          <a:xfrm>
            <a:off x="4645152" y="1627632"/>
            <a:ext cx="457200" cy="45720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0" name="Text 8"/>
          <p:cNvSpPr/>
          <p:nvPr/>
        </p:nvSpPr>
        <p:spPr>
          <a:xfrm>
            <a:off x="464515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45152" y="224028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reporting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45152" y="2651760"/>
            <a:ext cx="3099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factual steps: 1930 helpline, cybercrime.gov.in, nearest police station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13716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6224A"/>
          </a:solidFill>
          <a:ln/>
        </p:spPr>
      </p:sp>
      <p:sp>
        <p:nvSpPr>
          <p:cNvPr id="14" name="Shape 12"/>
          <p:cNvSpPr/>
          <p:nvPr/>
        </p:nvSpPr>
        <p:spPr>
          <a:xfrm>
            <a:off x="8485632" y="162763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848563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85632" y="224028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detections dashboard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85632" y="2651760"/>
            <a:ext cx="3099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 of the last 20 analyzed sessions with verdict badges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6224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4672" y="461772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Multilingual advisory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4672" y="5029200"/>
            <a:ext cx="3099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 translated into Hindi, Tamil, Telugu, Bengali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89120" y="374904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6224A"/>
          </a:solidFill>
          <a:ln/>
        </p:spPr>
      </p:sp>
      <p:sp>
        <p:nvSpPr>
          <p:cNvPr id="24" name="Shape 22"/>
          <p:cNvSpPr/>
          <p:nvPr/>
        </p:nvSpPr>
        <p:spPr>
          <a:xfrm>
            <a:off x="4645152" y="400507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4645152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45152" y="461772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scenarios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45152" y="5029200"/>
            <a:ext cx="3099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pre-written transcripts for a reliable, repeatable live demo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229600" y="374904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6224A"/>
          </a:solidFill>
          <a:ln/>
        </p:spPr>
      </p:sp>
      <p:sp>
        <p:nvSpPr>
          <p:cNvPr id="29" name="Shape 27"/>
          <p:cNvSpPr/>
          <p:nvPr/>
        </p:nvSpPr>
        <p:spPr>
          <a:xfrm>
            <a:off x="8485632" y="4005072"/>
            <a:ext cx="457200" cy="45720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30" name="Text 28"/>
          <p:cNvSpPr/>
          <p:nvPr/>
        </p:nvSpPr>
        <p:spPr>
          <a:xfrm>
            <a:off x="8485632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85632" y="461772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logging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485632" y="5029200"/>
            <a:ext cx="3099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analysis persisted to SQLite with timestamp for audit trail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working end to end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Fraud Shield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73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846320"/>
            <a:ext cx="3200400" cy="32004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188720"/>
            <a:ext cx="3200400" cy="32004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Pasting a real scam transcript and watching the verdict resolve in real time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Impact, scalability, and what's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027368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54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intervention from post-loss investigation to in-the-moment prevention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targets the ₹1,776 crore annual loss pool from digital arrest scams alone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2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logged strengthens a shared fraud-pattern intelligence base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6224A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554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FastAPI service — scales horizontally behind a load balancer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SQLite for Postgres for multi-region, multi-agency deployment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2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distribution channels: WhatsApp Business API, IVR, bank apps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18520" cy="2011680"/>
          </a:xfrm>
          <a:prstGeom prst="roundRect">
            <a:avLst>
              <a:gd name="adj" fmla="val 5455"/>
            </a:avLst>
          </a:prstGeom>
          <a:solidFill>
            <a:srgbClr val="16224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4526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48463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audio transcription for real phone calls, not just pasted text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80560" y="4526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term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48463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/ AI-voice detection layer alongside the text classifier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92440" y="4526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92440" y="48463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integration with NCRB reporting and telecom carrier alerts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scale from day one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Fraud Shield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6224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37744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Fraud Shield — questions welcome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Task Force 141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49560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Manan Pareek  ·  Raghav Khurana  ·  Harshit Arora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5257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2026-07-22T01:09:43Z</dcterms:created>
  <dcterms:modified xsi:type="dcterms:W3CDTF">2026-07-22T01:09:43Z</dcterms:modified>
</cp:coreProperties>
</file>